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4B47C5-3A9C-441A-9ED4-214F09392BA9}"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66238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B47C5-3A9C-441A-9ED4-214F09392BA9}"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3652713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B47C5-3A9C-441A-9ED4-214F09392BA9}"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769214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4B47C5-3A9C-441A-9ED4-214F09392BA9}"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771762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4B47C5-3A9C-441A-9ED4-214F09392BA9}"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626532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4B47C5-3A9C-441A-9ED4-214F09392BA9}"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505027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4B47C5-3A9C-441A-9ED4-214F09392BA9}"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244676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4B47C5-3A9C-441A-9ED4-214F09392BA9}"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3876992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4B47C5-3A9C-441A-9ED4-214F09392BA9}"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3587701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B47C5-3A9C-441A-9ED4-214F09392BA9}"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754243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B47C5-3A9C-441A-9ED4-214F09392BA9}"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E74ED2-086E-4B55-88B1-47B27D38B9DD}" type="slidenum">
              <a:rPr lang="en-IN" smtClean="0"/>
              <a:t>‹#›</a:t>
            </a:fld>
            <a:endParaRPr lang="en-IN"/>
          </a:p>
        </p:txBody>
      </p:sp>
    </p:spTree>
    <p:extLst>
      <p:ext uri="{BB962C8B-B14F-4D97-AF65-F5344CB8AC3E}">
        <p14:creationId xmlns:p14="http://schemas.microsoft.com/office/powerpoint/2010/main" val="15977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104B47C5-3A9C-441A-9ED4-214F09392BA9}" type="datetimeFigureOut">
              <a:rPr lang="en-IN" smtClean="0"/>
              <a:t>08-03-2026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2EE74ED2-086E-4B55-88B1-47B27D38B9DD}" type="slidenum">
              <a:rPr lang="en-IN" smtClean="0"/>
              <a:t>‹#›</a:t>
            </a:fld>
            <a:endParaRPr lang="en-IN"/>
          </a:p>
        </p:txBody>
      </p:sp>
    </p:spTree>
    <p:extLst>
      <p:ext uri="{BB962C8B-B14F-4D97-AF65-F5344CB8AC3E}">
        <p14:creationId xmlns:p14="http://schemas.microsoft.com/office/powerpoint/2010/main" val="25216495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0CB9-850A-A260-1DF5-5A2D4D28E7C4}"/>
              </a:ext>
            </a:extLst>
          </p:cNvPr>
          <p:cNvSpPr>
            <a:spLocks noGrp="1"/>
          </p:cNvSpPr>
          <p:nvPr>
            <p:ph type="ctrTitle"/>
          </p:nvPr>
        </p:nvSpPr>
        <p:spPr>
          <a:xfrm>
            <a:off x="1524000" y="1122363"/>
            <a:ext cx="9144000" cy="1782202"/>
          </a:xfrm>
        </p:spPr>
        <p:txBody>
          <a:bodyPr/>
          <a:lstStyle/>
          <a:p>
            <a:r>
              <a:rPr lang="en-IN" dirty="0"/>
              <a:t>Scribble to Digital</a:t>
            </a:r>
          </a:p>
        </p:txBody>
      </p:sp>
      <p:sp>
        <p:nvSpPr>
          <p:cNvPr id="3" name="Subtitle 2">
            <a:extLst>
              <a:ext uri="{FF2B5EF4-FFF2-40B4-BE49-F238E27FC236}">
                <a16:creationId xmlns:a16="http://schemas.microsoft.com/office/drawing/2014/main" id="{97CE12A7-5296-FAC9-E180-79A0DB22153C}"/>
              </a:ext>
            </a:extLst>
          </p:cNvPr>
          <p:cNvSpPr>
            <a:spLocks noGrp="1"/>
          </p:cNvSpPr>
          <p:nvPr>
            <p:ph type="subTitle" idx="1"/>
          </p:nvPr>
        </p:nvSpPr>
        <p:spPr>
          <a:xfrm>
            <a:off x="1524000" y="3429000"/>
            <a:ext cx="9144000" cy="2043953"/>
          </a:xfrm>
        </p:spPr>
        <p:txBody>
          <a:bodyPr>
            <a:normAutofit fontScale="85000" lnSpcReduction="20000"/>
          </a:bodyPr>
          <a:lstStyle/>
          <a:p>
            <a:pPr algn="l">
              <a:lnSpc>
                <a:spcPct val="150000"/>
              </a:lnSpc>
            </a:pPr>
            <a:r>
              <a:rPr lang="en-IN" dirty="0"/>
              <a:t>Done by</a:t>
            </a:r>
            <a:br>
              <a:rPr lang="en-IN" dirty="0"/>
            </a:br>
            <a:r>
              <a:rPr lang="en-IN" dirty="0" err="1"/>
              <a:t>Yugeshwaran.S</a:t>
            </a:r>
            <a:br>
              <a:rPr lang="en-IN" dirty="0"/>
            </a:br>
            <a:r>
              <a:rPr lang="en-IN" dirty="0" err="1"/>
              <a:t>Niranjan.K</a:t>
            </a:r>
            <a:br>
              <a:rPr lang="en-IN" dirty="0"/>
            </a:br>
            <a:r>
              <a:rPr lang="en-IN" dirty="0"/>
              <a:t>Mohammed </a:t>
            </a:r>
            <a:r>
              <a:rPr lang="en-IN" dirty="0" err="1"/>
              <a:t>Thoufeek.T</a:t>
            </a:r>
            <a:br>
              <a:rPr lang="en-IN" dirty="0"/>
            </a:br>
            <a:r>
              <a:rPr lang="en-IN" dirty="0"/>
              <a:t>Mohamed </a:t>
            </a:r>
            <a:r>
              <a:rPr lang="en-IN" dirty="0" err="1"/>
              <a:t>safi.J</a:t>
            </a:r>
            <a:endParaRPr lang="en-IN" dirty="0"/>
          </a:p>
        </p:txBody>
      </p:sp>
    </p:spTree>
    <p:extLst>
      <p:ext uri="{BB962C8B-B14F-4D97-AF65-F5344CB8AC3E}">
        <p14:creationId xmlns:p14="http://schemas.microsoft.com/office/powerpoint/2010/main" val="3116388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B69E7-93AF-600F-C75A-F3C0DFD1D153}"/>
              </a:ext>
            </a:extLst>
          </p:cNvPr>
          <p:cNvSpPr>
            <a:spLocks noGrp="1"/>
          </p:cNvSpPr>
          <p:nvPr>
            <p:ph type="title"/>
          </p:nvPr>
        </p:nvSpPr>
        <p:spPr/>
        <p:txBody>
          <a:bodyPr/>
          <a:lstStyle/>
          <a:p>
            <a:pPr algn="ctr"/>
            <a:r>
              <a:rPr lang="en-IN" dirty="0"/>
              <a:t>Project Description</a:t>
            </a:r>
          </a:p>
        </p:txBody>
      </p:sp>
      <p:sp>
        <p:nvSpPr>
          <p:cNvPr id="3" name="TextBox 2">
            <a:extLst>
              <a:ext uri="{FF2B5EF4-FFF2-40B4-BE49-F238E27FC236}">
                <a16:creationId xmlns:a16="http://schemas.microsoft.com/office/drawing/2014/main" id="{4B7DE175-1B08-2710-6C41-09E09C50EB69}"/>
              </a:ext>
            </a:extLst>
          </p:cNvPr>
          <p:cNvSpPr txBox="1"/>
          <p:nvPr/>
        </p:nvSpPr>
        <p:spPr>
          <a:xfrm>
            <a:off x="838200" y="2233533"/>
            <a:ext cx="10515600" cy="3376374"/>
          </a:xfrm>
          <a:prstGeom prst="rect">
            <a:avLst/>
          </a:prstGeom>
          <a:noFill/>
        </p:spPr>
        <p:txBody>
          <a:bodyPr wrap="square" rtlCol="0">
            <a:spAutoFit/>
          </a:bodyPr>
          <a:lstStyle/>
          <a:p>
            <a:pPr>
              <a:lnSpc>
                <a:spcPct val="150000"/>
              </a:lnSpc>
            </a:pPr>
            <a:r>
              <a:rPr lang="en-US" dirty="0"/>
              <a:t>Converting handwritten notes into digital format is a common challenge faced by students and professionals. Poor lighting, unclear handwriting, and mixed content (notes + tasks) reduce productivity and require manual rewriting.</a:t>
            </a:r>
          </a:p>
          <a:p>
            <a:pPr>
              <a:lnSpc>
                <a:spcPct val="150000"/>
              </a:lnSpc>
            </a:pPr>
            <a:r>
              <a:rPr lang="en-US" b="1" dirty="0"/>
              <a:t>Scribble to Digital</a:t>
            </a:r>
            <a:r>
              <a:rPr lang="en-US" dirty="0"/>
              <a:t> is an AI-powered system that converts messy handwritten notes into clean, structured digital text. The system enhances uploaded images, extracts text using OCR, and applies Generative AI to correct grammar and automatically extract To-Do tasks.</a:t>
            </a:r>
          </a:p>
          <a:p>
            <a:pPr>
              <a:lnSpc>
                <a:spcPct val="150000"/>
              </a:lnSpc>
            </a:pPr>
            <a:r>
              <a:rPr lang="en-US" dirty="0"/>
              <a:t>The application is developed using </a:t>
            </a:r>
            <a:r>
              <a:rPr lang="en-US" b="1" dirty="0" err="1"/>
              <a:t>Streamlit</a:t>
            </a:r>
            <a:r>
              <a:rPr lang="en-US" dirty="0"/>
              <a:t> as the frontend framework and Python as the backend processing engine.</a:t>
            </a:r>
            <a:endParaRPr lang="en-IN" dirty="0"/>
          </a:p>
        </p:txBody>
      </p:sp>
      <p:sp>
        <p:nvSpPr>
          <p:cNvPr id="4" name="Rectangle 3">
            <a:extLst>
              <a:ext uri="{FF2B5EF4-FFF2-40B4-BE49-F238E27FC236}">
                <a16:creationId xmlns:a16="http://schemas.microsoft.com/office/drawing/2014/main" id="{613EE1C9-09B8-7A40-D21E-CC4BC33A473D}"/>
              </a:ext>
            </a:extLst>
          </p:cNvPr>
          <p:cNvSpPr/>
          <p:nvPr/>
        </p:nvSpPr>
        <p:spPr>
          <a:xfrm>
            <a:off x="838200" y="1746213"/>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9998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0BF8-53C2-E888-46A9-6DF30A145A0D}"/>
              </a:ext>
            </a:extLst>
          </p:cNvPr>
          <p:cNvSpPr>
            <a:spLocks noGrp="1"/>
          </p:cNvSpPr>
          <p:nvPr>
            <p:ph type="title"/>
          </p:nvPr>
        </p:nvSpPr>
        <p:spPr/>
        <p:txBody>
          <a:bodyPr/>
          <a:lstStyle/>
          <a:p>
            <a:pPr algn="ctr"/>
            <a:r>
              <a:rPr lang="en-IN" dirty="0"/>
              <a:t>Use Case Scenarios</a:t>
            </a:r>
          </a:p>
        </p:txBody>
      </p:sp>
      <p:sp>
        <p:nvSpPr>
          <p:cNvPr id="3" name="TextBox 2">
            <a:extLst>
              <a:ext uri="{FF2B5EF4-FFF2-40B4-BE49-F238E27FC236}">
                <a16:creationId xmlns:a16="http://schemas.microsoft.com/office/drawing/2014/main" id="{9BE92967-F1B9-B177-9C1A-E9DF6E9EFE0F}"/>
              </a:ext>
            </a:extLst>
          </p:cNvPr>
          <p:cNvSpPr txBox="1"/>
          <p:nvPr/>
        </p:nvSpPr>
        <p:spPr>
          <a:xfrm>
            <a:off x="838200" y="2103905"/>
            <a:ext cx="10515600" cy="389574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b="1" dirty="0"/>
              <a:t>Scenario 1: </a:t>
            </a:r>
          </a:p>
          <a:p>
            <a:pPr>
              <a:lnSpc>
                <a:spcPct val="200000"/>
              </a:lnSpc>
            </a:pPr>
            <a:r>
              <a:rPr lang="en-IN" b="1" dirty="0"/>
              <a:t>	Handwritten Note Digitization with Image Enhancement</a:t>
            </a:r>
          </a:p>
          <a:p>
            <a:pPr marL="285750" indent="-285750">
              <a:lnSpc>
                <a:spcPct val="200000"/>
              </a:lnSpc>
              <a:buFont typeface="Arial" panose="020B0604020202020204" pitchFamily="34" charset="0"/>
              <a:buChar char="•"/>
            </a:pPr>
            <a:r>
              <a:rPr lang="en-IN" b="1" dirty="0"/>
              <a:t>Scenario 2: </a:t>
            </a:r>
          </a:p>
          <a:p>
            <a:pPr>
              <a:lnSpc>
                <a:spcPct val="200000"/>
              </a:lnSpc>
            </a:pPr>
            <a:r>
              <a:rPr lang="en-IN" b="1" dirty="0"/>
              <a:t>	Intelligent Text Correction and Contextual Reconstruction</a:t>
            </a:r>
            <a:endParaRPr lang="en-IN" dirty="0"/>
          </a:p>
          <a:p>
            <a:pPr marL="285750" indent="-285750">
              <a:lnSpc>
                <a:spcPct val="200000"/>
              </a:lnSpc>
              <a:buFont typeface="Arial" panose="020B0604020202020204" pitchFamily="34" charset="0"/>
              <a:buChar char="•"/>
            </a:pPr>
            <a:r>
              <a:rPr lang="en-IN" b="1" dirty="0"/>
              <a:t>Scenario 3: </a:t>
            </a:r>
          </a:p>
          <a:p>
            <a:pPr>
              <a:lnSpc>
                <a:spcPct val="200000"/>
              </a:lnSpc>
            </a:pPr>
            <a:r>
              <a:rPr lang="en-US" b="1" dirty="0"/>
              <a:t>	Automatic To-Do Extraction and Task Identification</a:t>
            </a:r>
            <a:br>
              <a:rPr lang="en-IN" dirty="0"/>
            </a:br>
            <a:endParaRPr lang="en-IN" dirty="0"/>
          </a:p>
        </p:txBody>
      </p:sp>
      <p:sp>
        <p:nvSpPr>
          <p:cNvPr id="6" name="Rectangle 5">
            <a:extLst>
              <a:ext uri="{FF2B5EF4-FFF2-40B4-BE49-F238E27FC236}">
                <a16:creationId xmlns:a16="http://schemas.microsoft.com/office/drawing/2014/main" id="{609E7FF5-CFC5-A228-AACC-299E348F51B5}"/>
              </a:ext>
            </a:extLst>
          </p:cNvPr>
          <p:cNvSpPr/>
          <p:nvPr/>
        </p:nvSpPr>
        <p:spPr>
          <a:xfrm>
            <a:off x="838200" y="1667828"/>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0906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66F1-4FF9-9821-647F-6A3E676D276D}"/>
              </a:ext>
            </a:extLst>
          </p:cNvPr>
          <p:cNvSpPr>
            <a:spLocks noGrp="1"/>
          </p:cNvSpPr>
          <p:nvPr>
            <p:ph type="title"/>
          </p:nvPr>
        </p:nvSpPr>
        <p:spPr/>
        <p:txBody>
          <a:bodyPr/>
          <a:lstStyle/>
          <a:p>
            <a:pPr algn="ctr"/>
            <a:r>
              <a:rPr lang="en-IN" dirty="0"/>
              <a:t>Core Technologies</a:t>
            </a:r>
          </a:p>
        </p:txBody>
      </p:sp>
      <p:sp>
        <p:nvSpPr>
          <p:cNvPr id="3" name="TextBox 2">
            <a:extLst>
              <a:ext uri="{FF2B5EF4-FFF2-40B4-BE49-F238E27FC236}">
                <a16:creationId xmlns:a16="http://schemas.microsoft.com/office/drawing/2014/main" id="{87B97A32-5E57-D1AD-7992-0DEB472D66BB}"/>
              </a:ext>
            </a:extLst>
          </p:cNvPr>
          <p:cNvSpPr txBox="1"/>
          <p:nvPr/>
        </p:nvSpPr>
        <p:spPr>
          <a:xfrm>
            <a:off x="838200" y="1713547"/>
            <a:ext cx="10515600" cy="4449744"/>
          </a:xfrm>
          <a:prstGeom prst="rect">
            <a:avLst/>
          </a:prstGeom>
          <a:noFill/>
        </p:spPr>
        <p:txBody>
          <a:bodyPr wrap="square" rtlCol="0">
            <a:spAutoFit/>
          </a:bodyPr>
          <a:lstStyle/>
          <a:p>
            <a:pPr marL="285750" indent="-285750" fontAlgn="base">
              <a:lnSpc>
                <a:spcPct val="200000"/>
              </a:lnSpc>
              <a:buFont typeface="Arial" panose="020B0604020202020204" pitchFamily="34" charset="0"/>
              <a:buChar char="•"/>
            </a:pPr>
            <a:r>
              <a:rPr lang="en-IN" b="1" dirty="0" err="1"/>
              <a:t>Streamlit</a:t>
            </a:r>
            <a:r>
              <a:rPr lang="en-IN" dirty="0"/>
              <a:t>: Interactive web application framework for UI, file uploads, and result display</a:t>
            </a:r>
          </a:p>
          <a:p>
            <a:pPr marL="285750" indent="-285750" fontAlgn="base">
              <a:lnSpc>
                <a:spcPct val="200000"/>
              </a:lnSpc>
              <a:buFont typeface="Arial" panose="020B0604020202020204" pitchFamily="34" charset="0"/>
              <a:buChar char="•"/>
            </a:pPr>
            <a:r>
              <a:rPr lang="en-IN" b="1" dirty="0"/>
              <a:t>Google Gemini 2.5 Flash</a:t>
            </a:r>
            <a:r>
              <a:rPr lang="en-IN" dirty="0"/>
              <a:t>: AI model for contextual understanding, grammar correction, and smart task extraction</a:t>
            </a:r>
          </a:p>
          <a:p>
            <a:pPr marL="285750" indent="-285750" fontAlgn="base">
              <a:lnSpc>
                <a:spcPct val="200000"/>
              </a:lnSpc>
              <a:buFont typeface="Arial" panose="020B0604020202020204" pitchFamily="34" charset="0"/>
              <a:buChar char="•"/>
            </a:pPr>
            <a:r>
              <a:rPr lang="en-IN" b="1" dirty="0"/>
              <a:t>OpenCV</a:t>
            </a:r>
            <a:r>
              <a:rPr lang="en-IN" dirty="0"/>
              <a:t>: Image preprocessing (grayscale conversion, noise removal, thresholding)</a:t>
            </a:r>
          </a:p>
          <a:p>
            <a:pPr marL="285750" indent="-285750" fontAlgn="base">
              <a:lnSpc>
                <a:spcPct val="200000"/>
              </a:lnSpc>
              <a:buFont typeface="Arial" panose="020B0604020202020204" pitchFamily="34" charset="0"/>
              <a:buChar char="•"/>
            </a:pPr>
            <a:r>
              <a:rPr lang="en-IN" b="1" dirty="0"/>
              <a:t>OCR (Tesseract/</a:t>
            </a:r>
            <a:r>
              <a:rPr lang="en-IN" b="1" dirty="0" err="1"/>
              <a:t>EasyOCR</a:t>
            </a:r>
            <a:r>
              <a:rPr lang="en-IN" b="1" dirty="0"/>
              <a:t>)</a:t>
            </a:r>
            <a:r>
              <a:rPr lang="en-IN" dirty="0"/>
              <a:t>: Converts enhanced handwritten images into raw digital text</a:t>
            </a:r>
          </a:p>
          <a:p>
            <a:pPr marL="285750" indent="-285750" fontAlgn="base">
              <a:lnSpc>
                <a:spcPct val="200000"/>
              </a:lnSpc>
              <a:buFont typeface="Arial" panose="020B0604020202020204" pitchFamily="34" charset="0"/>
              <a:buChar char="•"/>
            </a:pPr>
            <a:r>
              <a:rPr lang="en-IN" b="1" dirty="0"/>
              <a:t>Python</a:t>
            </a:r>
            <a:r>
              <a:rPr lang="en-IN" dirty="0"/>
              <a:t>: Core programming language</a:t>
            </a:r>
          </a:p>
          <a:p>
            <a:pPr marL="285750" indent="-285750" fontAlgn="base">
              <a:lnSpc>
                <a:spcPct val="200000"/>
              </a:lnSpc>
              <a:buFont typeface="Arial" panose="020B0604020202020204" pitchFamily="34" charset="0"/>
              <a:buChar char="•"/>
            </a:pPr>
            <a:r>
              <a:rPr lang="en-IN" b="1" dirty="0" err="1"/>
              <a:t>ReportLab</a:t>
            </a:r>
            <a:r>
              <a:rPr lang="en-IN" b="1" dirty="0"/>
              <a:t> / Python-DOCX</a:t>
            </a:r>
            <a:r>
              <a:rPr lang="en-IN" dirty="0"/>
              <a:t>: Optional export to PDF and Word formats</a:t>
            </a:r>
          </a:p>
          <a:p>
            <a:pPr marL="285750" indent="-285750">
              <a:lnSpc>
                <a:spcPct val="200000"/>
              </a:lnSpc>
              <a:buFont typeface="Arial" panose="020B0604020202020204" pitchFamily="34" charset="0"/>
              <a:buChar char="•"/>
            </a:pPr>
            <a:endParaRPr lang="en-IN" dirty="0"/>
          </a:p>
        </p:txBody>
      </p:sp>
      <p:sp>
        <p:nvSpPr>
          <p:cNvPr id="4" name="Rectangle 3">
            <a:extLst>
              <a:ext uri="{FF2B5EF4-FFF2-40B4-BE49-F238E27FC236}">
                <a16:creationId xmlns:a16="http://schemas.microsoft.com/office/drawing/2014/main" id="{9426856C-B38C-C918-7D1E-AB0494EF092D}"/>
              </a:ext>
            </a:extLst>
          </p:cNvPr>
          <p:cNvSpPr/>
          <p:nvPr/>
        </p:nvSpPr>
        <p:spPr>
          <a:xfrm>
            <a:off x="838200" y="1667828"/>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7072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88C6-6988-6011-5BFB-CC47AB999883}"/>
              </a:ext>
            </a:extLst>
          </p:cNvPr>
          <p:cNvSpPr>
            <a:spLocks noGrp="1"/>
          </p:cNvSpPr>
          <p:nvPr>
            <p:ph type="title"/>
          </p:nvPr>
        </p:nvSpPr>
        <p:spPr>
          <a:xfrm>
            <a:off x="838200" y="149972"/>
            <a:ext cx="10515600" cy="1325563"/>
          </a:xfrm>
        </p:spPr>
        <p:txBody>
          <a:bodyPr/>
          <a:lstStyle/>
          <a:p>
            <a:pPr algn="ctr"/>
            <a:r>
              <a:rPr lang="en-IN" dirty="0"/>
              <a:t>Project Workflow</a:t>
            </a:r>
          </a:p>
        </p:txBody>
      </p:sp>
      <p:sp>
        <p:nvSpPr>
          <p:cNvPr id="3" name="TextBox 2">
            <a:extLst>
              <a:ext uri="{FF2B5EF4-FFF2-40B4-BE49-F238E27FC236}">
                <a16:creationId xmlns:a16="http://schemas.microsoft.com/office/drawing/2014/main" id="{7038F45C-69D9-0835-FC1A-7747F4BFBACD}"/>
              </a:ext>
            </a:extLst>
          </p:cNvPr>
          <p:cNvSpPr txBox="1"/>
          <p:nvPr/>
        </p:nvSpPr>
        <p:spPr>
          <a:xfrm>
            <a:off x="838200" y="1475535"/>
            <a:ext cx="10515601" cy="7946855"/>
          </a:xfrm>
          <a:prstGeom prst="rect">
            <a:avLst/>
          </a:prstGeom>
          <a:noFill/>
        </p:spPr>
        <p:txBody>
          <a:bodyPr wrap="square" rtlCol="0">
            <a:spAutoFit/>
          </a:bodyPr>
          <a:lstStyle/>
          <a:p>
            <a:pPr>
              <a:lnSpc>
                <a:spcPct val="150000"/>
              </a:lnSpc>
            </a:pPr>
            <a:r>
              <a:rPr lang="en-IN" dirty="0"/>
              <a:t>1. Gemini AI Setup &amp; Initialization</a:t>
            </a:r>
          </a:p>
          <a:p>
            <a:pPr marL="285750" indent="-285750">
              <a:lnSpc>
                <a:spcPct val="150000"/>
              </a:lnSpc>
              <a:buFont typeface="Arial" panose="020B0604020202020204" pitchFamily="34" charset="0"/>
              <a:buChar char="•"/>
            </a:pPr>
            <a:r>
              <a:rPr lang="en-IN" dirty="0"/>
              <a:t>Set up Google AI Studio with Gemini API</a:t>
            </a:r>
          </a:p>
          <a:p>
            <a:pPr marL="285750" indent="-285750">
              <a:lnSpc>
                <a:spcPct val="150000"/>
              </a:lnSpc>
              <a:buFont typeface="Arial" panose="020B0604020202020204" pitchFamily="34" charset="0"/>
              <a:buChar char="•"/>
            </a:pPr>
            <a:r>
              <a:rPr lang="en-IN" dirty="0"/>
              <a:t>Configure API Keys and Environment</a:t>
            </a:r>
          </a:p>
          <a:p>
            <a:pPr marL="285750" indent="-285750">
              <a:lnSpc>
                <a:spcPct val="150000"/>
              </a:lnSpc>
              <a:buFont typeface="Arial" panose="020B0604020202020204" pitchFamily="34" charset="0"/>
              <a:buChar char="•"/>
            </a:pPr>
            <a:r>
              <a:rPr lang="en-IN" dirty="0"/>
              <a:t>Design AI Prompts for Note Processing</a:t>
            </a:r>
          </a:p>
          <a:p>
            <a:pPr>
              <a:lnSpc>
                <a:spcPct val="150000"/>
              </a:lnSpc>
            </a:pPr>
            <a:r>
              <a:rPr lang="en-US" dirty="0"/>
              <a:t>2. Core Functionality Development</a:t>
            </a:r>
          </a:p>
          <a:p>
            <a:pPr marL="285750" indent="-285750">
              <a:lnSpc>
                <a:spcPct val="150000"/>
              </a:lnSpc>
              <a:buFont typeface="Arial" panose="020B0604020202020204" pitchFamily="34" charset="0"/>
              <a:buChar char="•"/>
            </a:pPr>
            <a:r>
              <a:rPr lang="en-US" dirty="0"/>
              <a:t>Design </a:t>
            </a:r>
            <a:r>
              <a:rPr lang="en-US" dirty="0" err="1"/>
              <a:t>Streamlit</a:t>
            </a:r>
            <a:r>
              <a:rPr lang="en-US" dirty="0"/>
              <a:t> App Structure</a:t>
            </a:r>
          </a:p>
          <a:p>
            <a:pPr marL="285750" indent="-285750">
              <a:lnSpc>
                <a:spcPct val="150000"/>
              </a:lnSpc>
              <a:buFont typeface="Arial" panose="020B0604020202020204" pitchFamily="34" charset="0"/>
              <a:buChar char="•"/>
            </a:pPr>
            <a:r>
              <a:rPr lang="en-IN" dirty="0"/>
              <a:t>Implement OCR Extraction</a:t>
            </a:r>
          </a:p>
          <a:p>
            <a:pPr marL="285750" indent="-285750">
              <a:lnSpc>
                <a:spcPct val="150000"/>
              </a:lnSpc>
              <a:buFont typeface="Arial" panose="020B0604020202020204" pitchFamily="34" charset="0"/>
              <a:buChar char="•"/>
            </a:pPr>
            <a:r>
              <a:rPr lang="en-IN" dirty="0"/>
              <a:t>AI-Based Contextual Processing</a:t>
            </a:r>
          </a:p>
          <a:p>
            <a:pPr>
              <a:lnSpc>
                <a:spcPct val="150000"/>
              </a:lnSpc>
            </a:pPr>
            <a:r>
              <a:rPr lang="en-IN" dirty="0"/>
              <a:t>3. </a:t>
            </a:r>
            <a:r>
              <a:rPr lang="en-IN" dirty="0" err="1"/>
              <a:t>Streamlit</a:t>
            </a:r>
            <a:r>
              <a:rPr lang="en-IN" dirty="0"/>
              <a:t> UI Implementation</a:t>
            </a:r>
          </a:p>
          <a:p>
            <a:pPr marL="285750" indent="-285750">
              <a:lnSpc>
                <a:spcPct val="150000"/>
              </a:lnSpc>
              <a:buFont typeface="Arial" panose="020B0604020202020204" pitchFamily="34" charset="0"/>
              <a:buChar char="•"/>
            </a:pPr>
            <a:r>
              <a:rPr lang="en-IN" dirty="0"/>
              <a:t>Build Interactive UI Components</a:t>
            </a:r>
          </a:p>
          <a:p>
            <a:pPr marL="285750" indent="-285750">
              <a:lnSpc>
                <a:spcPct val="150000"/>
              </a:lnSpc>
              <a:buFont typeface="Arial" panose="020B0604020202020204" pitchFamily="34" charset="0"/>
              <a:buChar char="•"/>
            </a:pPr>
            <a:r>
              <a:rPr lang="en-IN" dirty="0"/>
              <a:t>Display Structured Results</a:t>
            </a:r>
          </a:p>
          <a:p>
            <a:pPr marL="285750" indent="-285750">
              <a:lnSpc>
                <a:spcPct val="150000"/>
              </a:lnSpc>
              <a:buFont typeface="Arial" panose="020B0604020202020204" pitchFamily="34" charset="0"/>
              <a:buChar char="•"/>
            </a:pPr>
            <a:r>
              <a:rPr lang="en-IN" dirty="0"/>
              <a:t>Add Export Functionality</a:t>
            </a:r>
          </a:p>
          <a:p>
            <a:pPr>
              <a:lnSpc>
                <a:spcPct val="150000"/>
              </a:lnSpc>
            </a:pPr>
            <a:br>
              <a:rPr lang="en-IN" dirty="0"/>
            </a:br>
            <a:br>
              <a:rPr lang="en-IN" dirty="0"/>
            </a:br>
            <a:br>
              <a:rPr lang="en-IN" dirty="0"/>
            </a:br>
            <a:br>
              <a:rPr lang="en-US" dirty="0"/>
            </a:br>
            <a:endParaRPr lang="en-IN" dirty="0"/>
          </a:p>
          <a:p>
            <a:pPr>
              <a:lnSpc>
                <a:spcPct val="150000"/>
              </a:lnSpc>
            </a:pPr>
            <a:br>
              <a:rPr lang="en-IN" dirty="0"/>
            </a:br>
            <a:endParaRPr lang="en-IN" dirty="0"/>
          </a:p>
        </p:txBody>
      </p:sp>
      <p:sp>
        <p:nvSpPr>
          <p:cNvPr id="5" name="Rectangle 4">
            <a:extLst>
              <a:ext uri="{FF2B5EF4-FFF2-40B4-BE49-F238E27FC236}">
                <a16:creationId xmlns:a16="http://schemas.microsoft.com/office/drawing/2014/main" id="{F17F10B0-6132-004E-5D9C-C49C47912AC9}"/>
              </a:ext>
            </a:extLst>
          </p:cNvPr>
          <p:cNvSpPr/>
          <p:nvPr/>
        </p:nvSpPr>
        <p:spPr>
          <a:xfrm>
            <a:off x="730624" y="1304758"/>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5981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C462E-FF25-0FFF-A7E1-82C8B84FFB4A}"/>
              </a:ext>
            </a:extLst>
          </p:cNvPr>
          <p:cNvSpPr>
            <a:spLocks noGrp="1"/>
          </p:cNvSpPr>
          <p:nvPr>
            <p:ph type="title"/>
          </p:nvPr>
        </p:nvSpPr>
        <p:spPr/>
        <p:txBody>
          <a:bodyPr/>
          <a:lstStyle/>
          <a:p>
            <a:pPr algn="ctr"/>
            <a:r>
              <a:rPr lang="en-IN" dirty="0"/>
              <a:t>Milestones</a:t>
            </a:r>
          </a:p>
        </p:txBody>
      </p:sp>
      <p:sp>
        <p:nvSpPr>
          <p:cNvPr id="3" name="Rectangle 2">
            <a:extLst>
              <a:ext uri="{FF2B5EF4-FFF2-40B4-BE49-F238E27FC236}">
                <a16:creationId xmlns:a16="http://schemas.microsoft.com/office/drawing/2014/main" id="{78ECBF7D-9ECA-87B7-05BA-1CBA633759A3}"/>
              </a:ext>
            </a:extLst>
          </p:cNvPr>
          <p:cNvSpPr/>
          <p:nvPr/>
        </p:nvSpPr>
        <p:spPr>
          <a:xfrm>
            <a:off x="838200" y="1667828"/>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F75C538-5BA6-F7C7-9A40-FB9FB1F21A18}"/>
              </a:ext>
            </a:extLst>
          </p:cNvPr>
          <p:cNvSpPr txBox="1"/>
          <p:nvPr/>
        </p:nvSpPr>
        <p:spPr>
          <a:xfrm>
            <a:off x="838200" y="2251037"/>
            <a:ext cx="10515600"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b="1" dirty="0"/>
              <a:t>Generative AI Initialization</a:t>
            </a:r>
          </a:p>
          <a:p>
            <a:pPr marL="285750" indent="-285750">
              <a:lnSpc>
                <a:spcPct val="200000"/>
              </a:lnSpc>
              <a:buFont typeface="Arial" panose="020B0604020202020204" pitchFamily="34" charset="0"/>
              <a:buChar char="•"/>
            </a:pPr>
            <a:r>
              <a:rPr lang="en-IN" b="1" dirty="0"/>
              <a:t>Core Functionalities Development (</a:t>
            </a:r>
            <a:r>
              <a:rPr lang="en-IN" b="1" dirty="0" err="1"/>
              <a:t>Streamlit</a:t>
            </a:r>
            <a:r>
              <a:rPr lang="en-IN" b="1" dirty="0"/>
              <a:t>)</a:t>
            </a:r>
          </a:p>
          <a:p>
            <a:pPr marL="285750" indent="-285750">
              <a:lnSpc>
                <a:spcPct val="200000"/>
              </a:lnSpc>
              <a:buFont typeface="Arial" panose="020B0604020202020204" pitchFamily="34" charset="0"/>
              <a:buChar char="•"/>
            </a:pPr>
            <a:r>
              <a:rPr lang="en-IN" b="1" dirty="0"/>
              <a:t>Backend – Flask Integration (app.py)</a:t>
            </a:r>
          </a:p>
          <a:p>
            <a:pPr marL="285750" indent="-285750">
              <a:lnSpc>
                <a:spcPct val="200000"/>
              </a:lnSpc>
              <a:buFont typeface="Arial" panose="020B0604020202020204" pitchFamily="34" charset="0"/>
              <a:buChar char="•"/>
            </a:pPr>
            <a:r>
              <a:rPr lang="en-IN" b="1" dirty="0"/>
              <a:t>UI Development</a:t>
            </a:r>
          </a:p>
          <a:p>
            <a:pPr marL="285750" indent="-285750">
              <a:lnSpc>
                <a:spcPct val="200000"/>
              </a:lnSpc>
              <a:buFont typeface="Arial" panose="020B0604020202020204" pitchFamily="34" charset="0"/>
              <a:buChar char="•"/>
            </a:pPr>
            <a:r>
              <a:rPr lang="en-IN" b="1" dirty="0"/>
              <a:t>Testing &amp; Optimization</a:t>
            </a:r>
            <a:endParaRPr lang="en-IN" dirty="0"/>
          </a:p>
        </p:txBody>
      </p:sp>
    </p:spTree>
    <p:extLst>
      <p:ext uri="{BB962C8B-B14F-4D97-AF65-F5344CB8AC3E}">
        <p14:creationId xmlns:p14="http://schemas.microsoft.com/office/powerpoint/2010/main" val="10344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267B0-EC05-A225-C8DB-383F0A48A2F7}"/>
              </a:ext>
            </a:extLst>
          </p:cNvPr>
          <p:cNvSpPr>
            <a:spLocks noGrp="1"/>
          </p:cNvSpPr>
          <p:nvPr>
            <p:ph type="title"/>
          </p:nvPr>
        </p:nvSpPr>
        <p:spPr/>
        <p:txBody>
          <a:bodyPr/>
          <a:lstStyle/>
          <a:p>
            <a:pPr algn="ctr"/>
            <a:r>
              <a:rPr lang="en-IN" dirty="0"/>
              <a:t>Conclusion</a:t>
            </a:r>
          </a:p>
        </p:txBody>
      </p:sp>
      <p:sp>
        <p:nvSpPr>
          <p:cNvPr id="3" name="Rectangle 2">
            <a:extLst>
              <a:ext uri="{FF2B5EF4-FFF2-40B4-BE49-F238E27FC236}">
                <a16:creationId xmlns:a16="http://schemas.microsoft.com/office/drawing/2014/main" id="{6DC01C44-D71F-6DF3-44AF-DEF9AAFF880E}"/>
              </a:ext>
            </a:extLst>
          </p:cNvPr>
          <p:cNvSpPr/>
          <p:nvPr/>
        </p:nvSpPr>
        <p:spPr>
          <a:xfrm>
            <a:off x="838200" y="1667828"/>
            <a:ext cx="105156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9A8D5AA-77D6-78D1-0B08-40DC0B209A12}"/>
              </a:ext>
            </a:extLst>
          </p:cNvPr>
          <p:cNvSpPr txBox="1"/>
          <p:nvPr/>
        </p:nvSpPr>
        <p:spPr>
          <a:xfrm>
            <a:off x="838200" y="2081605"/>
            <a:ext cx="10515599" cy="4622869"/>
          </a:xfrm>
          <a:prstGeom prst="rect">
            <a:avLst/>
          </a:prstGeom>
          <a:noFill/>
        </p:spPr>
        <p:txBody>
          <a:bodyPr wrap="square" rtlCol="0">
            <a:spAutoFit/>
          </a:bodyPr>
          <a:lstStyle/>
          <a:p>
            <a:pPr>
              <a:lnSpc>
                <a:spcPct val="150000"/>
              </a:lnSpc>
            </a:pPr>
            <a:r>
              <a:rPr lang="en-US"/>
              <a:t>Scribble to Digital transforms traditional handwritten note-taking into an intelligent, AI-powered digital workflow. By combining OCR technology with advanced generative AI, the system accurately extracts handwritten content, enhances readability through contextual correction, and intelligently identifies actionable tasks. The integration of image preprocessing, structured AI prompts, and a responsive Streamlit frontend ensures a seamless and user-friendly experience.</a:t>
            </a:r>
          </a:p>
          <a:p>
            <a:pPr>
              <a:lnSpc>
                <a:spcPct val="150000"/>
              </a:lnSpc>
            </a:pPr>
            <a:r>
              <a:rPr lang="en-US"/>
              <a:t>From image enhancement and text recognition to contextual understanding and to-do extraction, every component of Scribble to Digital is designed with a focus on accuracy, efficiency, and reliability. The system not only digitizes messy notes but also adds value by organizing content into clean text and structured task lists, saving users time and effort.</a:t>
            </a:r>
          </a:p>
          <a:p>
            <a:pPr>
              <a:lnSpc>
                <a:spcPct val="150000"/>
              </a:lnSpc>
            </a:pPr>
            <a:br>
              <a:rPr lang="en-US"/>
            </a:br>
            <a:endParaRPr lang="en-IN" dirty="0"/>
          </a:p>
        </p:txBody>
      </p:sp>
    </p:spTree>
    <p:extLst>
      <p:ext uri="{BB962C8B-B14F-4D97-AF65-F5344CB8AC3E}">
        <p14:creationId xmlns:p14="http://schemas.microsoft.com/office/powerpoint/2010/main" val="35876083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31</TotalTime>
  <Words>449</Words>
  <Application>Microsoft Office PowerPoint</Application>
  <PresentationFormat>Widescreen</PresentationFormat>
  <Paragraphs>45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Scribble to Digital</vt:lpstr>
      <vt:lpstr>Project Description</vt:lpstr>
      <vt:lpstr>Use Case Scenarios</vt:lpstr>
      <vt:lpstr>Core Technologies</vt:lpstr>
      <vt:lpstr>Project Workflow</vt:lpstr>
      <vt:lpstr>Milestones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S0623535</dc:creator>
  <cp:lastModifiedBy>S0623535</cp:lastModifiedBy>
  <cp:revision>1</cp:revision>
  <dcterms:created xsi:type="dcterms:W3CDTF">2026-03-08T12:48:08Z</dcterms:created>
  <dcterms:modified xsi:type="dcterms:W3CDTF">2026-03-08T13:20:04Z</dcterms:modified>
</cp:coreProperties>
</file>